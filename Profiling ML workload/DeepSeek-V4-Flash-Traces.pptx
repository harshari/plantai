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5F6F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5F6FA"/>
                </a:solidFill>
                <a:latin typeface="Arial"/>
              </a:rPr>
              <a:t>Prefill KV payload scales with L (GB)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Prefill KV publish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8K</c:v>
                  </c:pt>
                  <c:pt idx="1">
                    <c:v>16K</c:v>
                  </c:pt>
                  <c:pt idx="2">
                    <c:v>32K</c:v>
                  </c:pt>
                  <c:pt idx="3">
                    <c:v>64K</c:v>
                  </c:pt>
                  <c:pt idx="4">
                    <c:v>128K</c:v>
                  </c:pt>
                  <c:pt idx="5">
                    <c:v>256K</c:v>
                  </c:pt>
                  <c:pt idx="6">
                    <c:v>512K</c:v>
                  </c:pt>
                  <c:pt idx="7">
                    <c:v>1024K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0.0237</c:v>
                </c:pt>
                <c:pt idx="1">
                  <c:v>0.0474</c:v>
                </c:pt>
                <c:pt idx="2">
                  <c:v>0.0947</c:v>
                </c:pt>
                <c:pt idx="3">
                  <c:v>0.1895</c:v>
                </c:pt>
                <c:pt idx="4">
                  <c:v>0.3789</c:v>
                </c:pt>
                <c:pt idx="5">
                  <c:v>0.7579</c:v>
                </c:pt>
                <c:pt idx="6">
                  <c:v>1.5157</c:v>
                </c:pt>
                <c:pt idx="7">
                  <c:v>3.0314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3A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355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B93A7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8B93A7"/>
                    </a:solidFill>
                    <a:latin typeface="Arial"/>
                  </a:rPr>
                  <a:t>GB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3A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2436"/>
        </a:solidFill>
        <a:ln>
          <a:noFill/>
        </a:ln>
        <a:effectLst/>
      </c:spPr>
    </c:plotArea>
    <c:plotVisOnly val="1"/>
    <c:dispBlanksAs val="span"/>
  </c:chart>
  <c:spPr>
    <a:solidFill>
      <a:srgbClr val="1B243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5F6F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5F6FA"/>
                </a:solidFill>
                <a:latin typeface="Arial"/>
              </a:rPr>
              <a:t>Iterations depend only on α (flat across all 8 L)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Iterations to 100 output tokens</c:v>
                </c:pt>
              </c:strCache>
            </c:strRef>
          </c:tx>
          <c:spPr>
            <a:solidFill>
              <a:srgbClr val="FFB6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5F6F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α = 0.65</c:v>
                  </c:pt>
                  <c:pt idx="1">
                    <c:v>α = 0.75</c:v>
                  </c:pt>
                  <c:pt idx="2">
                    <c:v>α = 0.85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33</c:v>
                </c:pt>
                <c:pt idx="2">
                  <c:v>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5F6F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B93A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A3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3A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B2436"/>
        </a:solidFill>
        <a:ln>
          <a:noFill/>
        </a:ln>
        <a:effectLst/>
      </c:spPr>
    </c:plotArea>
    <c:plotVisOnly val="1"/>
    <c:dispBlanksAs val="span"/>
  </c:chart>
  <c:spPr>
    <a:solidFill>
      <a:srgbClr val="1B243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ML WORKLOAD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DeepSeek-V4-Flash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model card to hardware-mapping traces — step by step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5852160" cy="566928"/>
          </a:xfrm>
          <a:prstGeom prst="roundRect">
            <a:avLst>
              <a:gd name="adj" fmla="val 50000"/>
            </a:avLst>
          </a:prstGeom>
          <a:solidFill>
            <a:srgbClr val="222D4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57200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context lengths</a:t>
            </a:r>
            <a:pPr algn="ctr" indent="0" marL="0">
              <a:buNone/>
            </a:pPr>
            <a:r>
              <a:rPr lang="en-US" sz="15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×  </a:t>
            </a:r>
            <a:pPr algn="ctr" indent="0" marL="0">
              <a:buNone/>
            </a:pPr>
            <a:r>
              <a:rPr lang="en-US" sz="15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accept-rates</a:t>
            </a:r>
            <a:pPr algn="ctr" indent="0" marL="0">
              <a:buNone/>
            </a:pPr>
            <a:r>
              <a:rPr lang="en-US" sz="15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pPr algn="ctr" indent="0" marL="0">
              <a:buNone/>
            </a:pPr>
            <a:r>
              <a:rPr lang="en-US" sz="15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trace files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SNAPSHOT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DeepSeek-V4-Flash?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13760" cy="1737360"/>
          </a:xfrm>
          <a:prstGeom prst="roundRect">
            <a:avLst>
              <a:gd name="adj" fmla="val 4211"/>
            </a:avLst>
          </a:prstGeom>
          <a:solidFill>
            <a:srgbClr val="1B2436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67128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284B / 13B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/ activated params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73880" y="1965960"/>
            <a:ext cx="3413760" cy="1737360"/>
          </a:xfrm>
          <a:prstGeom prst="roundRect">
            <a:avLst>
              <a:gd name="adj" fmla="val 4211"/>
            </a:avLst>
          </a:prstGeom>
          <a:solidFill>
            <a:srgbClr val="1B2436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02480" y="2167128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602480" y="2880360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(2 SWA + 21 CSA + 20 HCA)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07680" y="1965960"/>
            <a:ext cx="3413760" cy="1737360"/>
          </a:xfrm>
          <a:prstGeom prst="roundRect">
            <a:avLst>
              <a:gd name="adj" fmla="val 4211"/>
            </a:avLst>
          </a:prstGeom>
          <a:solidFill>
            <a:srgbClr val="1B2436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36280" y="2167128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4,096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336280" y="2880360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size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3413760" cy="1737360"/>
          </a:xfrm>
          <a:prstGeom prst="roundRect">
            <a:avLst>
              <a:gd name="adj" fmla="val 4211"/>
            </a:avLst>
          </a:prstGeom>
          <a:solidFill>
            <a:srgbClr val="1B2436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224528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+ 256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68680" y="4937760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+ routed experts (6 active/tok)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73880" y="4023360"/>
            <a:ext cx="3413760" cy="1737360"/>
          </a:xfrm>
          <a:prstGeom prst="roundRect">
            <a:avLst>
              <a:gd name="adj" fmla="val 4211"/>
            </a:avLst>
          </a:prstGeom>
          <a:solidFill>
            <a:srgbClr val="1B2436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02480" y="4224528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1,000,000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02480" y="4937760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native context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07680" y="4023360"/>
            <a:ext cx="3413760" cy="1737360"/>
          </a:xfrm>
          <a:prstGeom prst="roundRect">
            <a:avLst>
              <a:gd name="adj" fmla="val 4211"/>
            </a:avLst>
          </a:prstGeom>
          <a:solidFill>
            <a:srgbClr val="1B2436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36280" y="4224528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MTP depth 1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336280" y="4937760"/>
            <a:ext cx="295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"DSpark" speculative module, block 7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DeepSeek-V4-Flash — Profiling ML Workload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DISTINCTION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are fixed. Two are not.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3749040"/>
          </a:xfrm>
          <a:prstGeom prst="roundRect">
            <a:avLst>
              <a:gd name="adj" fmla="val 1951"/>
            </a:avLst>
          </a:prstGeom>
          <a:solidFill>
            <a:srgbClr val="222D45"/>
          </a:solidFill>
          <a:ln w="12700">
            <a:solidFill>
              <a:srgbClr val="2DD4BF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22585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288036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routing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 MoE layers — a deterministic function of token ID. Zero probability involved.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shapes &amp; weights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the moment the architecture is fixed — FLOPs and bytes are formulas, not draws.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257800" cy="3749040"/>
          </a:xfrm>
          <a:prstGeom prst="roundRect">
            <a:avLst>
              <a:gd name="adj" fmla="val 1951"/>
            </a:avLst>
          </a:prstGeom>
          <a:solidFill>
            <a:srgbClr val="222D45"/>
          </a:solidFill>
          <a:ln w="12700">
            <a:solidFill>
              <a:srgbClr val="FFB627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240280"/>
            <a:ext cx="457200" cy="45720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78040" y="22585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83680" y="2880360"/>
            <a:ext cx="4617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routing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of 43 layers — top-6 of 256 experts by affinity score. Needs a profiled histogram to characterize.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MTP accept-rate (α)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tokens accepted per draft block is sampled each iteration — governs how long the DAG loop runs.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we need a sweep across scenarios — not one number.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DeepSeek-V4-Flash — Profiling ML Workload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architecture inputs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987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DeepSeek-V4 technical report, Section 4.2.1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0881360" cy="685800"/>
          </a:xfrm>
          <a:prstGeom prst="rect">
            <a:avLst/>
          </a:prstGeom>
          <a:solidFill>
            <a:srgbClr val="1B243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288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57600" y="18288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 (2 pure-SWA + 21 CSA + 20 HCA, interleaved)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size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657600" y="25146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4,096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10881360" cy="685800"/>
          </a:xfrm>
          <a:prstGeom prst="rect">
            <a:avLst/>
          </a:prstGeom>
          <a:solidFill>
            <a:srgbClr val="1B243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200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compression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57600" y="32004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CSA: compress every 4 tokens → 1 entry, top-512 sparse select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HCA: compress every 128 tokens → 1 entry, dense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38862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57600" y="38862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shared expert (always fires) + 256 routed (6 active/token)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10881360" cy="685800"/>
          </a:xfrm>
          <a:prstGeom prst="rect">
            <a:avLst/>
          </a:prstGeom>
          <a:solidFill>
            <a:srgbClr val="1B2436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5720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module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657600" y="45720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MTP depth 1 — what vLLM/SGLang brand "DSpark", block size 7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52578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657600" y="52578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~128K (paper: "remains 128K", not given more precisely)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DeepSeek-V4-Flash — Profiling ML Workload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into kernels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987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deepseek_kernels.py — 22 kernel definitions across 4 task groups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/home/user/PlantAI/Profiling ML workload/deepseek_dag_fig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45920"/>
            <a:ext cx="10789920" cy="4617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DeepSeek-V4-Flash — Profiling ML Workload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two formulas Glimmer didn't need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34440" y="987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DeepSeek's compressed KV cache and lightweight MTP drafter have no Glimmer analog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1B2436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94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bytes / token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Amortized from DeepSeek's own compression ratios: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6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CSA × (512·1 + 128·0.5)/4  +  20 HCA × (512·1)/128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6576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3,104 B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14400" y="42976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token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(growing-KV part only)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4400" y="4937760"/>
            <a:ext cx="4709160" cy="0"/>
          </a:xfrm>
          <a:prstGeom prst="line">
            <a:avLst/>
          </a:prstGeom>
          <a:noFill/>
          <a:ln w="12700">
            <a:solidFill>
              <a:srgbClr val="2A35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1206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Glimmer's 53,248 B/token  →  </a:t>
            </a:r>
            <a:pPr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17.2× smaller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196596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1B2436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2194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MTP draft-step cost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37960" y="265176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MTP modules are one lightweight extra block reusing the shared output head — NOT a full 43-layer pass, and structurally unlike Glimmer's separate small draft model.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37960" y="3931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1/43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537960" y="45720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full forward pass,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7× sequentially per iteration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37960" y="5212080"/>
            <a:ext cx="4709160" cy="0"/>
          </a:xfrm>
          <a:prstGeom prst="line">
            <a:avLst/>
          </a:prstGeom>
          <a:noFill/>
          <a:ln w="12700">
            <a:solidFill>
              <a:srgbClr val="2A35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534924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APPROXIMATION — real MTP module width isn't published. Not a sourced number.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DeepSeek-V4-Flash — Profiling ML Workload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DAG loop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 once → [MTP_DRAFT × 7 → VERIFY → COMMIT] until EOS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" y="3383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34440" y="3429000"/>
            <a:ext cx="502920" cy="274320"/>
          </a:xfrm>
          <a:prstGeom prst="rightArrow">
            <a:avLst/>
          </a:prstGeom>
          <a:solidFill>
            <a:srgbClr val="8B93A7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301752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222D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3154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828800" y="3520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43-layer pass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L tokens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40480" y="3429000"/>
            <a:ext cx="365760" cy="274320"/>
          </a:xfrm>
          <a:prstGeom prst="rightArrow">
            <a:avLst/>
          </a:prstGeom>
          <a:solidFill>
            <a:srgbClr val="8B93A7"/>
          </a:solidFill>
          <a:ln/>
        </p:spPr>
      </p:sp>
      <p:sp>
        <p:nvSpPr>
          <p:cNvPr id="12" name="Shape 10"/>
          <p:cNvSpPr/>
          <p:nvPr/>
        </p:nvSpPr>
        <p:spPr>
          <a:xfrm>
            <a:off x="4617720" y="301752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222D45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3154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MTP_DRAFT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7720" y="3520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sequential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micro-steps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629400" y="3429000"/>
            <a:ext cx="365760" cy="274320"/>
          </a:xfrm>
          <a:prstGeom prst="rightArrow">
            <a:avLst/>
          </a:prstGeom>
          <a:solidFill>
            <a:srgbClr val="8B93A7"/>
          </a:solidFill>
          <a:ln/>
        </p:spPr>
      </p:sp>
      <p:sp>
        <p:nvSpPr>
          <p:cNvPr id="16" name="Shape 14"/>
          <p:cNvSpPr/>
          <p:nvPr/>
        </p:nvSpPr>
        <p:spPr>
          <a:xfrm>
            <a:off x="7406640" y="301752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222D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3154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06640" y="3520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43-layer pass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7 tokens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418320" y="3429000"/>
            <a:ext cx="365760" cy="274320"/>
          </a:xfrm>
          <a:prstGeom prst="rightArrow">
            <a:avLst/>
          </a:prstGeom>
          <a:solidFill>
            <a:srgbClr val="8B93A7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95560" y="301752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222D45"/>
          </a:solidFill>
          <a:ln w="12700">
            <a:solidFill>
              <a:srgbClr val="5B6B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95560" y="31546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195560" y="3520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k of 7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~ TruncGeom(α)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2207240" y="3429000"/>
            <a:ext cx="365760" cy="274320"/>
          </a:xfrm>
          <a:prstGeom prst="rightArrow">
            <a:avLst/>
          </a:prstGeom>
          <a:solidFill>
            <a:srgbClr val="8B93A7"/>
          </a:solidFill>
          <a:ln/>
        </p:spPr>
      </p:sp>
      <p:sp>
        <p:nvSpPr>
          <p:cNvPr id="24" name="Text 22"/>
          <p:cNvSpPr/>
          <p:nvPr/>
        </p:nvSpPr>
        <p:spPr>
          <a:xfrm>
            <a:off x="12618720" y="32004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(EOS / max len)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1178540" y="4114800"/>
            <a:ext cx="0" cy="320040"/>
          </a:xfrm>
          <a:prstGeom prst="line">
            <a:avLst/>
          </a:prstGeom>
          <a:noFill/>
          <a:ln w="25400">
            <a:solidFill>
              <a:srgbClr val="FFB627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600700" y="4434840"/>
            <a:ext cx="5577840" cy="0"/>
          </a:xfrm>
          <a:prstGeom prst="line">
            <a:avLst/>
          </a:prstGeom>
          <a:noFill/>
          <a:ln w="25400">
            <a:solidFill>
              <a:srgbClr val="FFB627"/>
            </a:solidFill>
            <a:prstDash val="dash"/>
            <a:headEnd type="triangle"/>
          </a:ln>
        </p:spPr>
      </p:sp>
      <p:sp>
        <p:nvSpPr>
          <p:cNvPr id="27" name="Shape 25"/>
          <p:cNvSpPr/>
          <p:nvPr/>
        </p:nvSpPr>
        <p:spPr>
          <a:xfrm>
            <a:off x="5600700" y="4434840"/>
            <a:ext cx="0" cy="-320040"/>
          </a:xfrm>
          <a:prstGeom prst="line">
            <a:avLst/>
          </a:prstGeom>
          <a:noFill/>
          <a:ln w="25400">
            <a:solidFill>
              <a:srgbClr val="FFB627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4617720" y="47091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until EOS — the ONLY stochastic quantity is k, not which edge fires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" y="53492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B2436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534924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edges vs. Glimmer:  </a:t>
            </a:r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PREFILL→COMMIT</a:t>
            </a:r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carries the compressed KV publish (grows with L)   •   </a:t>
            </a:r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VERIFY→COMMIT</a:t>
            </a:r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carries k × 3,104 B + context carry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DeepSeek-V4-Flash — Profiling ML Workload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sweep — before generating anything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222D45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21742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174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880360" y="1920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across 256 experts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880360" y="245059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profiled data exists yet — an honest no-information placeholder, not a measurement.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222D45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386334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FFB627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8633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length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80360" y="35661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Paper's own Fig. 9 checkpoints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880360" y="409651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8K, 16K, 32K, 64K, 128K, 256K, 512K, 1024K — doubling, spans the full 1M-token validated range.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50292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222D45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550926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5092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Accept-rate α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880360" y="52120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  /  0.75  /  0.85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880360" y="574243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Reused from Glimmer's placeholder bounds — flagged as unconfirmed for DeepSeek specifically.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pPr algn="ctr" indent="0" marL="0">
              <a:buNone/>
            </a:pPr>
            <a:r>
              <a:rPr lang="en-US" sz="15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context lengths  ×  </a:t>
            </a:r>
            <a:pPr algn="ctr" indent="0" marL="0">
              <a:buNone/>
            </a:pPr>
            <a:r>
              <a:rPr lang="en-US" sz="15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pPr algn="ctr" indent="0" marL="0">
              <a:buNone/>
            </a:pPr>
            <a:r>
              <a:rPr lang="en-US" sz="15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accept-rates  =  </a:t>
            </a:r>
            <a:pPr algn="ctr" indent="0" marL="0">
              <a:buNone/>
            </a:pPr>
            <a:r>
              <a:rPr lang="en-US" sz="1500" b="1" dirty="0">
                <a:solidFill>
                  <a:srgbClr val="FFB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combinations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DeepSeek-V4-Flash — Profiling ML Workload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FFB6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traces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987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deepseek_workload_dag.py — 24 files, one per (α, L) combination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1B2436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graphicFrame>
        <p:nvGraphicFramePr>
          <p:cNvPr id="7" name="Chart 0" descr=""/>
          <p:cNvGraphicFramePr/>
          <p:nvPr/>
        </p:nvGraphicFramePr>
        <p:xfrm>
          <a:off x="868680" y="1965960"/>
          <a:ext cx="5029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355080" y="1783080"/>
            <a:ext cx="5166360" cy="4206240"/>
          </a:xfrm>
          <a:prstGeom prst="roundRect">
            <a:avLst>
              <a:gd name="adj" fmla="val 1739"/>
            </a:avLst>
          </a:prstGeom>
          <a:solidFill>
            <a:srgbClr val="1B2436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graphicFrame>
        <p:nvGraphicFramePr>
          <p:cNvPr id="9" name="Chart 1" descr=""/>
          <p:cNvGraphicFramePr/>
          <p:nvPr/>
        </p:nvGraphicFramePr>
        <p:xfrm>
          <a:off x="6583680" y="1965960"/>
          <a:ext cx="47091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DeepSeek-V4-Flash — Profiling ML Workload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worth carrying forward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222D45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82296" cy="13716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8483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17.2× smaller KV footprint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54203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straight out of DeepSeek's own compression ratios (m=4 CSA, m'=128 HCA) — not tuned to match the paper's efficiency claim, it just lands there.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56616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222D45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3566160"/>
            <a:ext cx="82296" cy="1371600"/>
          </a:xfrm>
          <a:prstGeom prst="rect">
            <a:avLst/>
          </a:prstGeom>
          <a:solidFill>
            <a:srgbClr val="FFB627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73075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depend only on α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0120" y="418795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33 / 23 iterations at α = 0.65 / 0.75 / 0.85 — completely flat across all 8 context lengths. L and α are independent axes.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521208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222D45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5212080"/>
            <a:ext cx="82296" cy="13716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537667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grows super-linear, not quadratic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0120" y="583387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128× more context → 574× more prefill FLOPs. Compression tempers the O(L²) attention term without eliminating it.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24 trace files, the loop simulator, and every formula above are pushed to the repo under “Profiling ML workload/”.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DeepSeek-V4-Flash — Profiling ML Workload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2026-08-20T13:43:54Z</dcterms:created>
  <dcterms:modified xsi:type="dcterms:W3CDTF">2026-08-20T13:43:54Z</dcterms:modified>
</cp:coreProperties>
</file>